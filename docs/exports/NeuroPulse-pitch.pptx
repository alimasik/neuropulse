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926080" cy="2926080"/>
          </a:xfrm>
          <a:prstGeom prst="ellipse">
            <a:avLst/>
          </a:prstGeom>
          <a:solidFill>
            <a:srgbClr val="5EC8FF">
              <a:alpha val="25000"/>
            </a:srgbClr>
          </a:solidFill>
          <a:ln w="12700">
            <a:solidFill>
              <a:srgbClr val="5EC8FF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Предиктивная десенсибилизация для людей с РАС, Туретт-синдромом и СДВГ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Носимый трекер + ML предсказывает сенсорный срыв за 10–15 минут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помогает семье его предотвратить.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MedTech · Май 2026 · Команда NeuroPulse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В ЦИФРАХ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растёт быстрее, чем мы её замечаем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из 31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детей в США имеют РАС (CDC 2025)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из 100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66160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детей в мире с РАС (ВОЗ)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 Казахстане за 5 лет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(3 568 → 12 807, МЗ РК)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235440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cost РАС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(Penn Study)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инсайт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 предсказуем за 10–15 минут по биометрии (HRV, пульс, моторная активность), но родители не имеют инструмента — они «угадывают по поведению» или не успевают.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пользователь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1097280" cy="109728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Айгерим, 34 года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9456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Мама ребёнка с РАС, г. Алматы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 Артур, 7 лет, диагноз F84 (2023)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Срывы 2–3× в неделю, обычно в школе и ТРЦ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назад купили Apple Watch — но он не предсказывает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 90 000 ₸/мес за АВА-терапию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212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Ищет, как обезопасить ребёнка в школе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Айгерим нужно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Предсказать срыв за 10–15 мин до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27432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план действий: дыхание, тихий маршрут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5204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86600" y="3520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AAC-карточки, чтобы Артур мог попросить о помощи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29768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86600" y="4297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врачу — что было за неделю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50749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8660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Защитить ребёнка от стигмы в общественных местах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Браслет + ML + мобильное приложение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03120"/>
            <a:ext cx="731520" cy="73152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EF7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Браслет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 Band 9: пульс, HRV, акселерометр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сэмплов/мин)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246120" y="3429000"/>
            <a:ext cx="164592" cy="228600"/>
          </a:xfrm>
          <a:prstGeom prst="rightTriangl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03120"/>
            <a:ext cx="731520" cy="73152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EF7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ML-инференс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состояния: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rising / critical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80760" y="3429000"/>
            <a:ext cx="164592" cy="228600"/>
          </a:xfrm>
          <a:prstGeom prst="rightTriangl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103120"/>
            <a:ext cx="731520" cy="73152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EF7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за 10–15 мин,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дыхание 4-7-8, AAC, тихий маршрут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915400" y="3429000"/>
            <a:ext cx="164592" cy="228600"/>
          </a:xfrm>
          <a:prstGeom prst="rightTriangl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2103120"/>
            <a:ext cx="731520" cy="73152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EF7"/>
                </a:solidFill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05256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врача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89720" y="34747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эпизодов, PDF-экспорт,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 по неделям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A3552">
              <a:alpha val="6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мы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из big-wearable (Apple, Garmin, Fitbit) не предсказывает сенсорный срыв. Мы — нишевый гибрид SaaS + железо для нейроотличных семей.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опроса родителей — 200 ответов за 2 недели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64208"/>
            <a:ext cx="640080" cy="640080"/>
          </a:xfrm>
          <a:prstGeom prst="ellipse">
            <a:avLst/>
          </a:prstGeom>
          <a:solidFill>
            <a:srgbClr val="5EC8FF">
              <a:alpha val="35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· диагноз · город · помощь от государства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61488"/>
            <a:ext cx="640080" cy="640080"/>
          </a:xfrm>
          <a:prstGeom prst="ellipse">
            <a:avLst/>
          </a:prstGeom>
          <a:solidFill>
            <a:srgbClr val="5EC8FF">
              <a:alpha val="35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61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0632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· место · длительность · предсказуемость · ценность раннего сигнала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58768"/>
            <a:ext cx="640080" cy="640080"/>
          </a:xfrm>
          <a:prstGeom prst="ellipse">
            <a:avLst/>
          </a:prstGeom>
          <a:solidFill>
            <a:srgbClr val="5EC8FF">
              <a:alpha val="35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58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1605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Гаджеты · готовность к браслету · willingness-to-pay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956048"/>
            <a:ext cx="640080" cy="640080"/>
          </a:xfrm>
          <a:prstGeom prst="ellipse">
            <a:avLst/>
          </a:prstGeom>
          <a:solidFill>
            <a:srgbClr val="5EC8FF">
              <a:alpha val="35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919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257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последнего срыва · приоритеты · согласие на интервью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 для проверки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19659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20574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50 % родителей не могут предсказать срыв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9260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3017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40 % готовы платить ≥ 2 000 ₸ / мес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8862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60920" y="39776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60 % готовы надеть браслет ребёнку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48463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60920" y="4937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70 % испытывают срывы вне дома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 · ТРЕКЕР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стоит обслужить 1 клиента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устройства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0E3A5A"/>
          </a:solidFill>
          <a:ln w="25400">
            <a:solidFill>
              <a:srgbClr val="5E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 Smart Band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828800"/>
            <a:ext cx="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B5"/>
                </a:solidFill>
              </a:rPr>
              <a:t>✓ Базовый MVP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Band 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21 000 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606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Verity Sense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383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383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4160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 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160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и LTV (B2C, KZ)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18288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 (Xiaomi Band 9)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+ упаковка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3200400"/>
            <a:ext cx="4754880" cy="36576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(one-time)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17 000 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3611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Family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2 990 ₸ / мес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+ эквайринг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926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−290 ₸ / мес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4434840"/>
            <a:ext cx="4754880" cy="36576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на подписке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9264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2 700 ₸ / мес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1228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 трекера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9264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мес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5257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(24 мес)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0" y="5257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64 800 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5669280"/>
            <a:ext cx="4754880" cy="36576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5669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9264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ЗАРАБАТЫВАЕМ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SaaS-модель: три канала монетизации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152038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Семьи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Дневник, AAC, 7 дней истории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76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2 990 ₸ / мес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42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Предсказание, отчёты, экспорт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+ Tracker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56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39 990 ₸ + 2 990 ₸/мес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4223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+ Xiaomi Band 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0E3A5A"/>
          </a:solidFill>
          <a:ln w="12700">
            <a:solidFill>
              <a:srgbClr val="67E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Школы, центры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8056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Center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496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4 990 ₸ / реб. / мес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8620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педагога, обучение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3776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199 000 ₸ единоразово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4142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браслетов + софт + тренинг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клиент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5056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«Асыл Мирас» (10 филиалов)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54223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Коррекционные сады и школы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37160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1A2D4A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— Минздрав / Минобр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2104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licence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2496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50 ₸ / реб. / мес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28620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12 807 детей = 7.7 млн ₸/год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grant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3776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 бесплатно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142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Akimat Алматы / гранты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EU-сертификация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5056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грант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54223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«wellness» → 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ЛУЧШАЯ МАРЖА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каналов по юнит-экономике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50292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1554480" cy="50292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554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1828800" cy="50292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/ мес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1463040" cy="50292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2194560" cy="50292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(24 мес)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332720" y="1554480"/>
            <a:ext cx="1280160" cy="502920"/>
          </a:xfrm>
          <a:prstGeom prst="rect">
            <a:avLst/>
          </a:prstGeom>
          <a:solidFill>
            <a:srgbClr val="0E3A5A"/>
          </a:solidFill>
          <a:ln w="12700">
            <a:solidFill>
              <a:srgbClr val="0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1554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274320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Family (BYOD)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057400"/>
            <a:ext cx="155448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057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182880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2 990 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2057400"/>
            <a:ext cx="146304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57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мес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2057400"/>
            <a:ext cx="219456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64 800 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332720" y="2057400"/>
            <a:ext cx="128016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0" y="2057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697480"/>
            <a:ext cx="27432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Family + Tracker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2697480"/>
            <a:ext cx="155448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697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17 000 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697480"/>
            <a:ext cx="18288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2 990 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2697480"/>
            <a:ext cx="146304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2697480"/>
            <a:ext cx="219456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2697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64 800 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332720" y="2697480"/>
            <a:ext cx="128016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0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337560"/>
            <a:ext cx="274320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337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School (5 детей)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3337560"/>
            <a:ext cx="155448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3337560"/>
            <a:ext cx="182880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337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24 950 ₸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75120" y="3337560"/>
            <a:ext cx="146304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3337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мес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38160" y="3337560"/>
            <a:ext cx="219456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3337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599 000 ₸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32720" y="3337560"/>
            <a:ext cx="1280160" cy="6400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24160" y="3337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977640"/>
            <a:ext cx="27432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Government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91840" y="3977640"/>
            <a:ext cx="155448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3977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(тендер)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46320" y="3977640"/>
            <a:ext cx="18288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977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 ₸/реб.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75120" y="3977640"/>
            <a:ext cx="146304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39776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38160" y="3977640"/>
            <a:ext cx="219456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3977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контракту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332720" y="3977640"/>
            <a:ext cx="128016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24160" y="3977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A3552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инсайт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B2B-канал самый прибыльный (LTV ≈ 600 тыс. ₸), B2C-без трекера даёт 90 % маржи и быструю окупаемость, B2G — стратегический долгосрок.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потрачено и что нужно дальше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(cash)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4114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(локально Vite + FastAPI)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577840" cy="411480"/>
          </a:xfrm>
          <a:prstGeom prst="rect">
            <a:avLst/>
          </a:prstGeom>
          <a:solidFill>
            <a:srgbClr val="1A2740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577840" cy="4114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/ Дизайн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577840" cy="411480"/>
          </a:xfrm>
          <a:prstGeom prst="rect">
            <a:avLst/>
          </a:prstGeom>
          <a:solidFill>
            <a:srgbClr val="1A2740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37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.kz (опц.)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5 500 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577840" cy="4114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40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команды 4×48 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investment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577840" cy="502920"/>
          </a:xfrm>
          <a:prstGeom prst="rect">
            <a:avLst/>
          </a:prstGeom>
          <a:solidFill>
            <a:srgbClr val="5EC8FF">
              <a:alpha val="2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cash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434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5 500 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 (после хакатона)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1828800"/>
            <a:ext cx="5029200" cy="4114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(4 чел × 12 мес)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6696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24 млн 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2331720"/>
            <a:ext cx="5029200" cy="411480"/>
          </a:xfrm>
          <a:prstGeom prst="rect">
            <a:avLst/>
          </a:prstGeom>
          <a:solidFill>
            <a:srgbClr val="1A2740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+ ML инференс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23317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800 тыс 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2834640"/>
            <a:ext cx="5029200" cy="4114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Клин. валидация / врачи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0" y="2834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1.5 млн 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3337560"/>
            <a:ext cx="5029200" cy="411480"/>
          </a:xfrm>
          <a:prstGeom prst="rect">
            <a:avLst/>
          </a:prstGeom>
          <a:solidFill>
            <a:srgbClr val="1A2740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 200 трекеров (бета)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66960" y="33375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 млн 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3840480"/>
            <a:ext cx="5029200" cy="41148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+ опросы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66960" y="3840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1.2 млн ₸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4434840"/>
            <a:ext cx="5029200" cy="502920"/>
          </a:xfrm>
          <a:prstGeom prst="rect">
            <a:avLst/>
          </a:prstGeom>
          <a:solidFill>
            <a:srgbClr val="FFB36B">
              <a:alpha val="20000"/>
            </a:srgbClr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seed (план)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58400" y="4434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млн ₸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A3552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финансирования: AIFC FinTech Lab grant · Astana Hub seed track · NurOtan / БСТМ · бизнес-ангелы РК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MVP до break-even — 24 месяца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38100">
            <a:solidFill>
              <a:srgbClr val="152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3493008"/>
            <a:ext cx="329184" cy="329184"/>
          </a:xfrm>
          <a:prstGeom prst="ellips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6459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52038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0-3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опрос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Победа на хакатоне, 200+ ответов, sign-off MZ РК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03320" y="3493008"/>
            <a:ext cx="329184" cy="329184"/>
          </a:xfrm>
          <a:prstGeom prst="ellipse">
            <a:avLst/>
          </a:prstGeom>
          <a:solidFill>
            <a:srgbClr val="67E8B5"/>
          </a:solidFill>
          <a:ln w="12700">
            <a:solidFill>
              <a:srgbClr val="67E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2072" y="16459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52038"/>
          </a:solidFill>
          <a:ln w="12700">
            <a:solidFill>
              <a:srgbClr val="67E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4-6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07792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Бета 30 семей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07792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≥ 40, отток &lt;15 %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53512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53512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16168" y="3493008"/>
            <a:ext cx="329184" cy="329184"/>
          </a:xfrm>
          <a:prstGeom prst="ellips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16459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52038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7-12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B2C + «Асыл Мирас»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платных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млн 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29016" y="3493008"/>
            <a:ext cx="329184" cy="329184"/>
          </a:xfrm>
          <a:prstGeom prst="ellipse">
            <a:avLst/>
          </a:prstGeom>
          <a:solidFill>
            <a:srgbClr val="FFB36B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7768" y="16459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52038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33488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13-18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33488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Экспансия UZ / KG + B2B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33488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платных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79208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79208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млн ₸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41864" y="3493008"/>
            <a:ext cx="329184" cy="329184"/>
          </a:xfrm>
          <a:prstGeom prst="ellipse">
            <a:avLst/>
          </a:prstGeom>
          <a:solidFill>
            <a:srgbClr val="67E8B5"/>
          </a:solidFill>
          <a:ln w="12700">
            <a:solidFill>
              <a:srgbClr val="67E8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0616" y="164592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52038"/>
          </a:solidFill>
          <a:ln w="12700">
            <a:solidFill>
              <a:srgbClr val="67E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19-24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46336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Europe + B2G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46336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92056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92056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млн 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что мы просим у жюри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(4 человека)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ML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UX accessibility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Биометрия, классификация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5EC8FF">
              <a:alpha val="30000"/>
            </a:srgbClr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UX-исследование, опросы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182880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36B"/>
                </a:solidFill>
              </a:rPr>
              <a:t>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Победа в треке MedTech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2212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 и доступ к менторской программе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69748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36B"/>
                </a:solidFill>
              </a:rPr>
              <a:t>II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с «Асыл Мирас»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3081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на 5 семей — за 6 недель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356616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36B"/>
                </a:solidFill>
              </a:rPr>
              <a:t>III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Минздраву РК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9502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для use of medical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443484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152038"/>
          </a:solidFill>
          <a:ln w="12700">
            <a:solidFill>
              <a:srgbClr val="FFB3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36B"/>
                </a:solidFill>
              </a:rPr>
              <a:t>IV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1520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Seed-раунд 30 млн 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4818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Hub / AIFC FinTech Lab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— предсказываем то, что нельзя увидеть.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Источники, использованные в презентации: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CDC ADDM Network 2025 — cdc.gov/autism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Inbusiness.kz — рост детей с РАС в РК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Минздрав РК / qpdo.kz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Penn Today — Lifetime cost of ASD $2.4M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ScienceDirect — Tourette meta-analysis 1986-2022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Xiaomi Smart Band 10 / Polar Verity Sense — official sites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NeuroPulse · MedTech Hackathon ·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NeuroPulse — Pitch</dc:title>
  <dc:subject>PptxGenJS Presentation</dc:subject>
  <dc:creator>NeuroPulse Team</dc:creator>
  <cp:lastModifiedBy>NeuroPulse Team</cp:lastModifiedBy>
  <cp:revision>1</cp:revision>
  <dcterms:created xsi:type="dcterms:W3CDTF">2026-05-23T15:28:55Z</dcterms:created>
  <dcterms:modified xsi:type="dcterms:W3CDTF">2026-05-23T15:28:55Z</dcterms:modified>
</cp:coreProperties>
</file>